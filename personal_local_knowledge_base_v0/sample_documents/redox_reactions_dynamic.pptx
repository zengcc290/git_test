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开场：先让学生看到“电子”是全章的主角。建议从“失电子/得电子”两个关键词切入，再进入后续流程。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本页是导航页。每个步骤对应后面的一组视觉化页面，讲解时可以逐个点击推进。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这里要反复强调：氧化剂自己被还原，還原剂自己被氧化。可以用Zn与Cu²⁺的置换反应做口头互动。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建议把本页作为“随时回看”的速查卡。重点提醒H₂O₂中的氧是−1价，这是后面双重角色的根源。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用左右两类对照纠正常见误区：有气体、沉淀或水生成，并不能单独说明是氧化还原反应。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配平页建议逐步点击：先出现价态变化，再出现半反应，最后出现总反应。课件通过连续视觉区块模拟逐步动画。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重点讲第二步：S(+4)被氧化为S(+6)，O₂被还原。第三步是工艺上的“控雾”设计，不是新的硫价态变化。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本页适合做“颜色动画”讲解：先看紫色MnO₄⁻，再依次出现酸性、中性、强碱性三种落点。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说明KMnO₄滴定的“自身指示”特点。强调反应介质和滴定终点现象，避免把紫色褪去误认为所有高锰酸钾反应的共同现象。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双氧水是本章最适合用“左右分叉动画”讲解的物质。核心不是背两个方程式，而是看它的氧从−1价走向−2或0。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矩阵页可以按“物质类别”逐列出现。讲解时让学生先预测还原剂的价态变化，再核对方程式。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互动页建议停留几秒让学生作答。下一页给出答案和解析，形成点击推进的动态效果。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解析时不要只公布答案，要带学生说出每个元素“从几价到几价”。这一步决定学生能否迁移到陌生反应。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复盘页把内容收束为“还原剂—氧化剂—介质—应用”四个节点，帮助学生建立框架，而非只记单个方程式。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收尾可以让学生用自己的话复述四个开关，并把任意一个新反应带入框架判断。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342632" y="749808"/>
            <a:ext cx="3703320" cy="3703320"/>
          </a:xfrm>
          <a:prstGeom prst="ellipse">
            <a:avLst/>
          </a:prstGeom>
          <a:solidFill>
            <a:srgbClr val="08111F">
              <a:alpha val="0"/>
            </a:srgbClr>
          </a:solidFill>
          <a:ln w="12700">
            <a:solidFill>
              <a:srgbClr val="51D9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440000">
            <a:off x="7799832" y="1216152"/>
            <a:ext cx="2788920" cy="2788920"/>
          </a:xfrm>
          <a:prstGeom prst="ellipse">
            <a:avLst/>
          </a:prstGeom>
          <a:solidFill>
            <a:srgbClr val="08111F">
              <a:alpha val="0"/>
            </a:srgbClr>
          </a:solidFill>
          <a:ln w="12700">
            <a:solidFill>
              <a:srgbClr val="FFC857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1200000">
            <a:off x="8275320" y="1700784"/>
            <a:ext cx="1828800" cy="1828800"/>
          </a:xfrm>
          <a:prstGeom prst="ellipse">
            <a:avLst/>
          </a:prstGeom>
          <a:solidFill>
            <a:srgbClr val="08111F">
              <a:alpha val="0"/>
            </a:srgbClr>
          </a:solidFill>
          <a:ln w="12700">
            <a:solidFill>
              <a:srgbClr val="F06C9B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249424"/>
            <a:ext cx="713232" cy="713232"/>
          </a:xfrm>
          <a:prstGeom prst="ellipse">
            <a:avLst/>
          </a:prstGeom>
          <a:solidFill>
            <a:srgbClr val="14253C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23774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10378440" y="1005840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401568"/>
            <a:ext cx="128016" cy="128016"/>
          </a:xfrm>
          <a:prstGeom prst="ellipse">
            <a:avLst/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85248" y="3959352"/>
            <a:ext cx="128016" cy="128016"/>
          </a:xfrm>
          <a:prstGeom prst="ellipse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CHEMISTRY / REDOX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41732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氧化还原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</a:t>
            </a:r>
            <a:endParaRPr lang="en-US" sz="43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从电子转移到工业制硫酸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35844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· 判价 · 配平 · 强氧化剂 · 常见还原剂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" y="47731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4782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得电子 ＝ 还原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23744" y="47731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23744" y="4782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失电子 ＝ 氧化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" y="5413248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4253C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" y="5431536"/>
            <a:ext cx="2203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 ⇌  Mn²⁺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83280" y="5413248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4253C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93008" y="5431536"/>
            <a:ext cx="2203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H₂O₂：两面角色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388352" y="5413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动态讲解版 · 适合课堂展示</a:t>
            </a:r>
            <a:endParaRPr lang="en-US" sz="1100" dirty="0"/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| 先建立地图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一条学习路径，串起整章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94944" y="1847088"/>
            <a:ext cx="1847088" cy="2029968"/>
          </a:xfrm>
          <a:prstGeom prst="roundRect">
            <a:avLst>
              <a:gd name="adj" fmla="val 3960"/>
            </a:avLst>
          </a:prstGeom>
          <a:solidFill>
            <a:srgbClr val="101D31"/>
          </a:solidFill>
          <a:ln w="12700">
            <a:solidFill>
              <a:srgbClr val="101D3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011680"/>
            <a:ext cx="0" cy="1700784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084832"/>
            <a:ext cx="411480" cy="411480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21854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是否发生化合价变化？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852928"/>
            <a:ext cx="310896" cy="0"/>
          </a:xfrm>
          <a:prstGeom prst="line">
            <a:avLst/>
          </a:prstGeom>
          <a:noFill/>
          <a:ln w="17780">
            <a:solidFill>
              <a:srgbClr val="51D9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16936" y="1847088"/>
            <a:ext cx="1847088" cy="2029968"/>
          </a:xfrm>
          <a:prstGeom prst="roundRect">
            <a:avLst>
              <a:gd name="adj" fmla="val 3960"/>
            </a:avLst>
          </a:prstGeom>
          <a:solidFill>
            <a:srgbClr val="14253C"/>
          </a:solidFill>
          <a:ln w="12700">
            <a:solidFill>
              <a:srgbClr val="14253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44952" y="2011680"/>
            <a:ext cx="0" cy="1700784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2084832"/>
            <a:ext cx="411480" cy="4114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36392" y="21854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136392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判价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136392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谁升、谁降、谁得失电子？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2312" y="2852928"/>
            <a:ext cx="310896" cy="0"/>
          </a:xfrm>
          <a:prstGeom prst="line">
            <a:avLst/>
          </a:prstGeom>
          <a:noFill/>
          <a:ln w="17780">
            <a:solidFill>
              <a:srgbClr val="FFC85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138928" y="1847088"/>
            <a:ext cx="1847088" cy="2029968"/>
          </a:xfrm>
          <a:prstGeom prst="roundRect">
            <a:avLst>
              <a:gd name="adj" fmla="val 3960"/>
            </a:avLst>
          </a:prstGeom>
          <a:solidFill>
            <a:srgbClr val="101D31"/>
          </a:solidFill>
          <a:ln w="12700">
            <a:solidFill>
              <a:srgbClr val="101D31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66944" y="2011680"/>
            <a:ext cx="0" cy="1700784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8384" y="2084832"/>
            <a:ext cx="411480" cy="411480"/>
          </a:xfrm>
          <a:prstGeom prst="ellipse">
            <a:avLst/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58384" y="21854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358384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6C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配平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358384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用电子守恒把反应配准。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004304" y="2852928"/>
            <a:ext cx="310896" cy="0"/>
          </a:xfrm>
          <a:prstGeom prst="line">
            <a:avLst/>
          </a:prstGeom>
          <a:noFill/>
          <a:ln w="17780">
            <a:solidFill>
              <a:srgbClr val="F06C9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0920" y="1847088"/>
            <a:ext cx="1847088" cy="2029968"/>
          </a:xfrm>
          <a:prstGeom prst="roundRect">
            <a:avLst>
              <a:gd name="adj" fmla="val 3960"/>
            </a:avLst>
          </a:prstGeom>
          <a:solidFill>
            <a:srgbClr val="14253C"/>
          </a:solidFill>
          <a:ln w="12700">
            <a:solidFill>
              <a:srgbClr val="14253C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88936" y="2011680"/>
            <a:ext cx="0" cy="1700784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0376" y="2084832"/>
            <a:ext cx="411480" cy="411480"/>
          </a:xfrm>
          <a:prstGeom prst="ellipse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0376" y="21854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580376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580376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酸性 / 中性 / 碱性决定产物。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226296" y="2852928"/>
            <a:ext cx="310896" cy="0"/>
          </a:xfrm>
          <a:prstGeom prst="line">
            <a:avLst/>
          </a:prstGeom>
          <a:noFill/>
          <a:ln w="17780">
            <a:solidFill>
              <a:srgbClr val="63E6BE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582912" y="1847088"/>
            <a:ext cx="1847088" cy="2029968"/>
          </a:xfrm>
          <a:prstGeom prst="roundRect">
            <a:avLst>
              <a:gd name="adj" fmla="val 3960"/>
            </a:avLst>
          </a:prstGeom>
          <a:solidFill>
            <a:srgbClr val="101D31"/>
          </a:solidFill>
          <a:ln w="12700">
            <a:solidFill>
              <a:srgbClr val="101D31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0928" y="2011680"/>
            <a:ext cx="0" cy="1700784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02368" y="2084832"/>
            <a:ext cx="411480" cy="411480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02368" y="21854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802368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9802368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工业、滴定与生活中的应用。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4944" y="4443984"/>
            <a:ext cx="10808208" cy="960120"/>
          </a:xfrm>
          <a:prstGeom prst="roundRect">
            <a:avLst>
              <a:gd name="adj" fmla="val 7619"/>
            </a:avLst>
          </a:prstGeom>
          <a:solidFill>
            <a:srgbClr val="14253C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2688" y="466344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本课高频物质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95728" y="4626864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395728" y="4636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KMnO₄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94176" y="4626864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94176" y="46360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H₂O₂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82896" y="4626864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82896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SO₂ / SO₃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19088" y="4626864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19088" y="46360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Fe²⁺ / Fe³⁺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065008" y="46634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把“物质”放进“电子流动”里理解，记忆会更牢。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64" name="Text 62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| 核心概念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一条规则，贯穿全章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13232" y="1664208"/>
            <a:ext cx="3090672" cy="3154680"/>
          </a:xfrm>
          <a:prstGeom prst="roundRect">
            <a:avLst>
              <a:gd name="adj" fmla="val 2367"/>
            </a:avLst>
          </a:prstGeom>
          <a:solidFill>
            <a:srgbClr val="20192A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828800"/>
            <a:ext cx="0" cy="2825496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19751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</a:t>
            </a:r>
            <a:endParaRPr lang="en-US" sz="29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615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失电子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化合价升高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8221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还原剂在这里“交出”电子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1993392"/>
            <a:ext cx="384048" cy="38404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54680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85048" y="1664208"/>
            <a:ext cx="3090672" cy="3154680"/>
          </a:xfrm>
          <a:prstGeom prst="roundRect">
            <a:avLst>
              <a:gd name="adj" fmla="val 2367"/>
            </a:avLst>
          </a:prstGeom>
          <a:solidFill>
            <a:srgbClr val="172437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13064" y="1828800"/>
            <a:ext cx="0" cy="2825496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77656" y="19751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</a:t>
            </a:r>
            <a:endParaRPr lang="en-US" sz="2900" dirty="0"/>
          </a:p>
        </p:txBody>
      </p:sp>
      <p:sp>
        <p:nvSpPr>
          <p:cNvPr id="28" name="Text 26"/>
          <p:cNvSpPr txBox="1"/>
          <p:nvPr/>
        </p:nvSpPr>
        <p:spPr>
          <a:xfrm>
            <a:off x="8677656" y="2615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得电子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化合价降低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677656" y="38221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氧化剂在这里“接收”电子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826496" y="1993392"/>
            <a:ext cx="384048" cy="384048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26496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50792" y="3127248"/>
            <a:ext cx="3922776" cy="0"/>
          </a:xfrm>
          <a:prstGeom prst="line">
            <a:avLst/>
          </a:prstGeom>
          <a:noFill/>
          <a:ln w="27940">
            <a:solidFill>
              <a:srgbClr val="9AEA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25312" y="2862072"/>
            <a:ext cx="530352" cy="530352"/>
          </a:xfrm>
          <a:prstGeom prst="ellipse">
            <a:avLst/>
          </a:prstGeom>
          <a:solidFill>
            <a:srgbClr val="14253C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25312" y="29992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4617720" y="37490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电子从还原剂流向氧化剂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71216" y="5230368"/>
            <a:ext cx="6446520" cy="594360"/>
          </a:xfrm>
          <a:prstGeom prst="roundRect">
            <a:avLst>
              <a:gd name="adj" fmla="val 12308"/>
            </a:avLst>
          </a:prstGeom>
          <a:solidFill>
            <a:srgbClr val="14253C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80944" y="5248656"/>
            <a:ext cx="62270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 + Cu²⁺ → Zn²⁺ + Cu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3108960" y="59710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Zn：还原剂        Cu²⁺：氧化剂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电子转移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| 先判价，再找电子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化合价是氧化还原反应的“雷达”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13232" y="162763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792224"/>
            <a:ext cx="0" cy="603504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1764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1773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单质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单质中元素化合价为0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352544" y="162763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1792224"/>
            <a:ext cx="0" cy="603504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1764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电荷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1773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单原子离子化合价＝所带电荷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991856" y="162763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1792224"/>
            <a:ext cx="0" cy="603504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1764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E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924544" y="1773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氧通常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24544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O通常为−2价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713232" y="283464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2999232"/>
            <a:ext cx="0" cy="603504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2688" y="2971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6C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645920" y="29809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过氧化物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64592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H₂O₂ / Na₂O₂中O为−1价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352544" y="283464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2999232"/>
            <a:ext cx="0" cy="603504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0" y="2971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29809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氢通常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285232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H通常为+1价，金属氢化物例外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991856" y="283464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101D31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19872" y="2999232"/>
            <a:ext cx="0" cy="603504"/>
          </a:xfrm>
          <a:prstGeom prst="line">
            <a:avLst/>
          </a:prstGeom>
          <a:noFill/>
          <a:ln w="38100">
            <a:solidFill>
              <a:srgbClr val="78A7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11312" y="2971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8924544" y="29809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代数和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924544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化合物和为0，离子和等于电荷</a:t>
            </a:r>
            <a:endParaRPr lang="en-US" sz="940" dirty="0"/>
          </a:p>
        </p:txBody>
      </p:sp>
      <p:sp>
        <p:nvSpPr>
          <p:cNvPr id="48" name="Text 46"/>
          <p:cNvSpPr txBox="1"/>
          <p:nvPr/>
        </p:nvSpPr>
        <p:spPr>
          <a:xfrm>
            <a:off x="731520" y="4224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快速扫描：高频物质的关键价态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4617720"/>
            <a:ext cx="2395728" cy="932688"/>
          </a:xfrm>
          <a:prstGeom prst="roundRect">
            <a:avLst>
              <a:gd name="adj" fmla="val 7843"/>
            </a:avLst>
          </a:prstGeom>
          <a:solidFill>
            <a:srgbClr val="0E192B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7824" y="48006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KMnO₄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77824" y="5138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 +7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0" y="4617720"/>
            <a:ext cx="2395728" cy="932688"/>
          </a:xfrm>
          <a:prstGeom prst="roundRect">
            <a:avLst>
              <a:gd name="adj" fmla="val 7843"/>
            </a:avLst>
          </a:prstGeom>
          <a:solidFill>
            <a:srgbClr val="0E192B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21024" y="48006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H₂O₂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3621024" y="5138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−1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4617720"/>
            <a:ext cx="2395728" cy="932688"/>
          </a:xfrm>
          <a:prstGeom prst="roundRect">
            <a:avLst>
              <a:gd name="adj" fmla="val 7843"/>
            </a:avLst>
          </a:prstGeom>
          <a:solidFill>
            <a:srgbClr val="0E192B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64224" y="48006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6364224" y="5138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+4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961120" y="4617720"/>
            <a:ext cx="2395728" cy="932688"/>
          </a:xfrm>
          <a:prstGeom prst="roundRect">
            <a:avLst>
              <a:gd name="adj" fmla="val 7843"/>
            </a:avLst>
          </a:prstGeom>
          <a:solidFill>
            <a:srgbClr val="0E192B"/>
          </a:solidFill>
          <a:ln w="12700">
            <a:solidFill>
              <a:srgbClr val="F06C9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07424" y="48006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C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Fe²⁺ → Fe³⁺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9107424" y="5138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升1价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62" name="Text 60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化合价判断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| 一眼识别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反应发生了，不代表一定是氧化还原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13232" y="1700784"/>
            <a:ext cx="5212080" cy="3639312"/>
          </a:xfrm>
          <a:prstGeom prst="roundRect">
            <a:avLst>
              <a:gd name="adj" fmla="val 2010"/>
            </a:avLst>
          </a:prstGeom>
          <a:solidFill>
            <a:srgbClr val="18273B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865376"/>
            <a:ext cx="0" cy="3310128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1975104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19842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有化合价变化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4871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氧化还原反应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7552" y="3127248"/>
            <a:ext cx="4526280" cy="603504"/>
          </a:xfrm>
          <a:prstGeom prst="roundRect">
            <a:avLst>
              <a:gd name="adj" fmla="val 12121"/>
            </a:avLst>
          </a:prstGeom>
          <a:solidFill>
            <a:srgbClr val="0D1A2B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3145536"/>
            <a:ext cx="4306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 + Cu²⁺ → Zn²⁺ + Cu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024128" y="4151376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52728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Zn：0 → +2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失电子，被氧化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63824" y="4151376"/>
            <a:ext cx="128016" cy="128016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92424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Cu：+2 → 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92424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得电子，被还原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983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结论：必须追踪“谁升、谁降”。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72784" y="1700784"/>
            <a:ext cx="5212080" cy="3639312"/>
          </a:xfrm>
          <a:prstGeom prst="roundRect">
            <a:avLst>
              <a:gd name="adj" fmla="val 2010"/>
            </a:avLst>
          </a:prstGeom>
          <a:solidFill>
            <a:srgbClr val="211B2A"/>
          </a:solidFill>
          <a:ln w="12700">
            <a:solidFill>
              <a:srgbClr val="F06C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865376"/>
            <a:ext cx="0" cy="3310128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1975104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47104" y="19842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无化合价变化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47104" y="24871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非氧化还原反应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547104" y="3127248"/>
            <a:ext cx="4526280" cy="603504"/>
          </a:xfrm>
          <a:prstGeom prst="roundRect">
            <a:avLst>
              <a:gd name="adj" fmla="val 12121"/>
            </a:avLst>
          </a:prstGeom>
          <a:solidFill>
            <a:srgbClr val="2A1624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56832" y="3145536"/>
            <a:ext cx="4306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HCl + NaOH → NaCl + H₂O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583680" y="4151376"/>
            <a:ext cx="128016" cy="128016"/>
          </a:xfrm>
          <a:prstGeom prst="ellipse">
            <a:avLst/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复分解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主要是离子重新组合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23376" y="4151376"/>
            <a:ext cx="128016" cy="128016"/>
          </a:xfrm>
          <a:prstGeom prst="ellipse">
            <a:avLst/>
          </a:prstGeom>
          <a:solidFill>
            <a:srgbClr val="9FB2C8"/>
          </a:solidFill>
          <a:ln w="12700">
            <a:solidFill>
              <a:srgbClr val="9FB2C8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51976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价态不变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951976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没有电子转移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547104" y="4983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结论：先看价态，再看反应类型。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5705856"/>
            <a:ext cx="5321808" cy="493776"/>
          </a:xfrm>
          <a:prstGeom prst="roundRect">
            <a:avLst>
              <a:gd name="adj" fmla="val 1481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29000" y="5815584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判断开关：化合价有没有变化？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反应识别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配平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让电子守恒：从半反应到总反应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49808" y="1536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示例：酸性条件下 MnO₄⁻ 氧化 Fe²⁺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1901952"/>
            <a:ext cx="1627632" cy="1335024"/>
          </a:xfrm>
          <a:prstGeom prst="roundRect">
            <a:avLst>
              <a:gd name="adj" fmla="val 5479"/>
            </a:avLst>
          </a:prstGeom>
          <a:solidFill>
            <a:srgbClr val="101D31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2066544"/>
            <a:ext cx="0" cy="1005840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2075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23500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锁定变化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26883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Mn：+7 → +2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得5e⁻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14016" y="2542032"/>
            <a:ext cx="182880" cy="0"/>
          </a:xfrm>
          <a:prstGeom prst="line">
            <a:avLst/>
          </a:prstGeom>
          <a:noFill/>
          <a:ln w="16510">
            <a:solidFill>
              <a:srgbClr val="B68C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1901952"/>
            <a:ext cx="1627632" cy="1335024"/>
          </a:xfrm>
          <a:prstGeom prst="roundRect">
            <a:avLst>
              <a:gd name="adj" fmla="val 5479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9776" y="2066544"/>
            <a:ext cx="0" cy="1005840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98064" y="2075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798064" y="23500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补齐原子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798064" y="26883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O用H₂O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H用H⁺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15968" y="2542032"/>
            <a:ext cx="182880" cy="0"/>
          </a:xfrm>
          <a:prstGeom prst="line">
            <a:avLst/>
          </a:prstGeom>
          <a:noFill/>
          <a:ln w="16510">
            <a:solidFill>
              <a:srgbClr val="51D9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53712" y="1901952"/>
            <a:ext cx="1627632" cy="1335024"/>
          </a:xfrm>
          <a:prstGeom prst="roundRect">
            <a:avLst>
              <a:gd name="adj" fmla="val 5479"/>
            </a:avLst>
          </a:prstGeom>
          <a:solidFill>
            <a:srgbClr val="101D3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2066544"/>
            <a:ext cx="0" cy="100584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00016" y="2075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700016" y="23500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守恒电荷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700016" y="26883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Fe²⁺ → Fe³⁺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每个失1e⁻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12864" y="1755648"/>
            <a:ext cx="4553712" cy="1883664"/>
          </a:xfrm>
          <a:prstGeom prst="roundRect">
            <a:avLst>
              <a:gd name="adj" fmla="val 3883"/>
            </a:avLst>
          </a:prstGeom>
          <a:solidFill>
            <a:srgbClr val="0D1B2D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05472" y="1975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两个半反应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205472" y="2395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+ 8H⁺ + 5e⁻ → Mn²⁺ + 4H₂O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205472" y="28712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Fe²⁺ → Fe³⁺ + e⁻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205472" y="32918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电子总数：5 = 5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合并后的离子方程式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" y="4443984"/>
            <a:ext cx="10716768" cy="694944"/>
          </a:xfrm>
          <a:prstGeom prst="roundRect">
            <a:avLst>
              <a:gd name="adj" fmla="val 10526"/>
            </a:avLst>
          </a:prstGeom>
          <a:solidFill>
            <a:srgbClr val="132B40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9536" y="4462272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+ 5Fe²⁺ + 8H⁺ → Mn²⁺ + 5Fe³⁺ + 4H₂O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42416" y="557784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2416" y="55869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原子守恒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22576" y="557784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22576" y="55869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电荷守恒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02736" y="557784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602736" y="55869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电子守恒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56144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配平不是“凑系数”，而是把电子数对齐。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半反应法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| 工业应用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现代制硫酸：接触法的三段推进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49808" y="15270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  →  SO₃  →  H₂SO₄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9808" y="2084832"/>
            <a:ext cx="2761488" cy="2926080"/>
          </a:xfrm>
          <a:prstGeom prst="roundRect">
            <a:avLst>
              <a:gd name="adj" fmla="val 2649"/>
            </a:avLst>
          </a:prstGeom>
          <a:solidFill>
            <a:srgbClr val="101D3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2249424"/>
            <a:ext cx="0" cy="2596896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" y="2331720"/>
            <a:ext cx="384048" cy="38404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2350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制 SO₂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" y="2971800"/>
            <a:ext cx="2322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+ O₂ → SO₂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或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4FeS₂ + 11O₂ → 2Fe₂O₃ + 8SO₂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9264" y="4059936"/>
            <a:ext cx="2322576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969264" y="426110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焙烧硫或黄铁矿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84448" y="3529584"/>
            <a:ext cx="347472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78224" y="2084832"/>
            <a:ext cx="2761488" cy="2926080"/>
          </a:xfrm>
          <a:prstGeom prst="roundRect">
            <a:avLst>
              <a:gd name="adj" fmla="val 2649"/>
            </a:avLst>
          </a:prstGeom>
          <a:solidFill>
            <a:srgbClr val="10283A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2249424"/>
            <a:ext cx="0" cy="2596896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06824" y="2331720"/>
            <a:ext cx="384048" cy="384048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06824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28032" y="2350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氧化 SO₂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29718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2SO₂ + O₂ ⇌ 2SO₃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97680" y="4059936"/>
            <a:ext cx="2322576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4297680" y="426110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V₂O₅，400～500 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关键氧化步骤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12864" y="3529584"/>
            <a:ext cx="347472" cy="0"/>
          </a:xfrm>
          <a:prstGeom prst="line">
            <a:avLst/>
          </a:prstGeom>
          <a:noFill/>
          <a:ln w="25400">
            <a:solidFill>
              <a:srgbClr val="51D9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06640" y="2084832"/>
            <a:ext cx="2761488" cy="2926080"/>
          </a:xfrm>
          <a:prstGeom prst="roundRect">
            <a:avLst>
              <a:gd name="adj" fmla="val 2649"/>
            </a:avLst>
          </a:prstGeom>
          <a:solidFill>
            <a:srgbClr val="101D31"/>
          </a:solidFill>
          <a:ln w="12700">
            <a:solidFill>
              <a:srgbClr val="63E6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34656" y="2249424"/>
            <a:ext cx="0" cy="2596896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2331720"/>
            <a:ext cx="384048" cy="384048"/>
          </a:xfrm>
          <a:prstGeom prst="ellipse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35240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156448" y="2350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吸收 SO₃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626096" y="29718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SO₃ + H₂SO₄ → H₂S₂O₇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H₂S₂O₇ + H₂O → 2H₂SO₄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626096" y="4059936"/>
            <a:ext cx="2322576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7626096" y="426110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先成发烟硫酸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再加水稀释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" y="5376672"/>
            <a:ext cx="10716768" cy="594360"/>
          </a:xfrm>
          <a:prstGeom prst="roundRect">
            <a:avLst>
              <a:gd name="adj" fmla="val 12308"/>
            </a:avLst>
          </a:prstGeom>
          <a:solidFill>
            <a:srgbClr val="2A1D18"/>
          </a:solidFill>
          <a:ln w="10160">
            <a:solidFill>
              <a:srgbClr val="FFC85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" y="55595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为什么不直接用水吸收SO₃？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703320" y="5559552"/>
            <a:ext cx="7296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SO₃ + H₂O 反应过于剧烈，会形成酸雾；工业上先吸收成H₂S₂O₇，再加水。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接触法制硫酸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| 强氧化剂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高锰酸钾：介质决定“落点”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49808" y="151790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同一个MnO₄⁻，在不同介质中会走向不同的还原产物。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1920240"/>
            <a:ext cx="2761488" cy="3493008"/>
          </a:xfrm>
          <a:prstGeom prst="roundRect">
            <a:avLst>
              <a:gd name="adj" fmla="val 2649"/>
            </a:avLst>
          </a:prstGeom>
          <a:solidFill>
            <a:srgbClr val="101D31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2084832"/>
            <a:ext cx="0" cy="3163824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酸性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9264" y="2688336"/>
            <a:ext cx="475488" cy="475488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" y="2825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64208" y="27889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157984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Mn²⁺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" y="341985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紫色 → 近无色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9264" y="3858768"/>
            <a:ext cx="2322576" cy="694944"/>
          </a:xfrm>
          <a:prstGeom prst="roundRect">
            <a:avLst>
              <a:gd name="adj" fmla="val 10526"/>
            </a:avLst>
          </a:prstGeom>
          <a:solidFill>
            <a:srgbClr val="0C1728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8992" y="38770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+ 8H⁺ + 5e⁻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Mn²⁺ + 4H₂O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69264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用途：Fe²⁺、C₂O₄²⁻、H₂O₂滴定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4078224" y="1920240"/>
            <a:ext cx="2761488" cy="3493008"/>
          </a:xfrm>
          <a:prstGeom prst="roundRect">
            <a:avLst>
              <a:gd name="adj" fmla="val 2649"/>
            </a:avLst>
          </a:prstGeom>
          <a:solidFill>
            <a:srgbClr val="101D31"/>
          </a:solidFill>
          <a:ln w="12700">
            <a:solidFill>
              <a:srgbClr val="C887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084832"/>
            <a:ext cx="0" cy="3163824"/>
          </a:xfrm>
          <a:prstGeom prst="line">
            <a:avLst/>
          </a:prstGeom>
          <a:noFill/>
          <a:ln w="38100">
            <a:solidFill>
              <a:srgbClr val="C8875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87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弱碱性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97680" y="2688336"/>
            <a:ext cx="475488" cy="475488"/>
          </a:xfrm>
          <a:prstGeom prst="ellipse">
            <a:avLst/>
          </a:prstGeom>
          <a:solidFill>
            <a:srgbClr val="C88754"/>
          </a:solidFill>
          <a:ln w="12700">
            <a:solidFill>
              <a:srgbClr val="C8875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2825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92624" y="27889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MnO₂↓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0" y="341985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紫色 → 棕褐色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3858768"/>
            <a:ext cx="2322576" cy="694944"/>
          </a:xfrm>
          <a:prstGeom prst="roundRect">
            <a:avLst>
              <a:gd name="adj" fmla="val 10526"/>
            </a:avLst>
          </a:prstGeom>
          <a:solidFill>
            <a:srgbClr val="0C1728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07408" y="38770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+ 2H₂O + 3e⁻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MnO₂↓ + 4OH⁻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用途：氧化SO₃²⁻、Fe²⁺等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7406640" y="1920240"/>
            <a:ext cx="2761488" cy="3493008"/>
          </a:xfrm>
          <a:prstGeom prst="roundRect">
            <a:avLst>
              <a:gd name="adj" fmla="val 2649"/>
            </a:avLst>
          </a:prstGeom>
          <a:solidFill>
            <a:srgbClr val="101D31"/>
          </a:solidFill>
          <a:ln w="12700">
            <a:solidFill>
              <a:srgbClr val="63E6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34656" y="2084832"/>
            <a:ext cx="0" cy="3163824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26096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强碱性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626096" y="2688336"/>
            <a:ext cx="475488" cy="475488"/>
          </a:xfrm>
          <a:prstGeom prst="ellipse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26096" y="2825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7889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814816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MnO₄²⁻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7626096" y="341985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紫色 → 绿色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26096" y="3858768"/>
            <a:ext cx="2322576" cy="694944"/>
          </a:xfrm>
          <a:prstGeom prst="roundRect">
            <a:avLst>
              <a:gd name="adj" fmla="val 10526"/>
            </a:avLst>
          </a:prstGeom>
          <a:solidFill>
            <a:srgbClr val="0C1728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35824" y="38770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e⁻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MnO₄²⁻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626096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用途：特定碱性体系中的还原</a:t>
            </a:r>
            <a:endParaRPr lang="en-US" sz="960" dirty="0"/>
          </a:p>
        </p:txBody>
      </p:sp>
      <p:sp>
        <p:nvSpPr>
          <p:cNvPr id="52" name="Text 50"/>
          <p:cNvSpPr txBox="1"/>
          <p:nvPr/>
        </p:nvSpPr>
        <p:spPr>
          <a:xfrm>
            <a:off x="768096" y="577900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实验提醒：酸性高锰酸钾通常用稀H₂SO₄酸化，避免Cl⁻被同步氧化。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KMnO₄的介质效应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典型用途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KMnO₄滴定：紫色本身就是信号灯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22960" y="1664208"/>
            <a:ext cx="2057400" cy="4151376"/>
          </a:xfrm>
          <a:prstGeom prst="roundRect">
            <a:avLst>
              <a:gd name="adj" fmla="val 3556"/>
            </a:avLst>
          </a:prstGeom>
          <a:solidFill>
            <a:srgbClr val="0E1B2C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滴定管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72768" y="2359152"/>
            <a:ext cx="347472" cy="2048256"/>
          </a:xfrm>
          <a:prstGeom prst="roundRect">
            <a:avLst>
              <a:gd name="adj" fmla="val 21053"/>
            </a:avLst>
          </a:prstGeom>
          <a:solidFill>
            <a:srgbClr val="DCE7F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27632" y="2468880"/>
            <a:ext cx="237744" cy="1024128"/>
          </a:xfrm>
          <a:prstGeom prst="roundRect">
            <a:avLst>
              <a:gd name="adj" fmla="val 30769"/>
            </a:avLst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46504" y="4416552"/>
            <a:ext cx="0" cy="274320"/>
          </a:xfrm>
          <a:prstGeom prst="line">
            <a:avLst/>
          </a:prstGeom>
          <a:noFill/>
          <a:ln w="15240">
            <a:solidFill>
              <a:srgbClr val="B68C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700784" y="4846320"/>
            <a:ext cx="91440" cy="91440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00784" y="5184648"/>
            <a:ext cx="91440" cy="91440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449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255264" y="1664208"/>
            <a:ext cx="4041648" cy="4151376"/>
          </a:xfrm>
          <a:prstGeom prst="roundRect">
            <a:avLst>
              <a:gd name="adj" fmla="val 1810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66160" y="1920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锥形瓶：待测Fe²⁺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1728" y="2487168"/>
            <a:ext cx="658368" cy="1170432"/>
          </a:xfrm>
          <a:prstGeom prst="roundRect">
            <a:avLst>
              <a:gd name="adj" fmla="val 11111"/>
            </a:avLst>
          </a:prstGeom>
          <a:solidFill>
            <a:srgbClr val="DCE7F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87368" y="3456432"/>
            <a:ext cx="1847088" cy="1444752"/>
          </a:xfrm>
          <a:prstGeom prst="trapezoid">
            <a:avLst/>
          </a:prstGeom>
          <a:solidFill>
            <a:srgbClr val="193A4A"/>
          </a:solidFill>
          <a:ln w="13970">
            <a:solidFill>
              <a:srgbClr val="51D9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105656"/>
            <a:ext cx="1609344" cy="420624"/>
          </a:xfrm>
          <a:prstGeom prst="arc">
            <a:avLst/>
          </a:prstGeom>
          <a:solidFill>
            <a:srgbClr val="B68CFF">
              <a:alpha val="22000"/>
            </a:srgbClr>
          </a:solidFill>
          <a:ln w="25400">
            <a:solidFill>
              <a:srgbClr val="B68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10912" y="3675888"/>
            <a:ext cx="0" cy="402336"/>
          </a:xfrm>
          <a:prstGeom prst="line">
            <a:avLst/>
          </a:prstGeom>
          <a:noFill/>
          <a:ln w="17780">
            <a:solidFill>
              <a:srgbClr val="B68C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965192" y="3931920"/>
            <a:ext cx="91440" cy="91440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62272" y="523036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终点：浅紫红色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30秒不褪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62672" y="1664208"/>
            <a:ext cx="3803904" cy="4151376"/>
          </a:xfrm>
          <a:prstGeom prst="roundRect">
            <a:avLst>
              <a:gd name="adj" fmla="val 1923"/>
            </a:avLst>
          </a:prstGeom>
          <a:solidFill>
            <a:srgbClr val="14253C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73568" y="1920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课堂中的三帧动态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91856" y="2487168"/>
            <a:ext cx="310896" cy="310896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91856" y="25786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25054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滴加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35440" y="25054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紫色进入溶液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47304" y="2834640"/>
            <a:ext cx="0" cy="338328"/>
          </a:xfrm>
          <a:prstGeom prst="line">
            <a:avLst/>
          </a:prstGeom>
          <a:noFill/>
          <a:ln w="15240">
            <a:solidFill>
              <a:srgbClr val="29415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991856" y="3291840"/>
            <a:ext cx="310896" cy="310896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91856" y="33832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331012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235440" y="33101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颜色迅速褪去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47304" y="3639312"/>
            <a:ext cx="0" cy="338328"/>
          </a:xfrm>
          <a:prstGeom prst="line">
            <a:avLst/>
          </a:prstGeom>
          <a:noFill/>
          <a:ln w="15240">
            <a:solidFill>
              <a:srgbClr val="29415F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991856" y="4096512"/>
            <a:ext cx="310896" cy="3108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991856" y="418795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503920" y="41148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235440" y="4114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浅紫红色留存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73568" y="5047488"/>
            <a:ext cx="3182112" cy="548640"/>
          </a:xfrm>
          <a:prstGeom prst="roundRect">
            <a:avLst>
              <a:gd name="adj" fmla="val 13333"/>
            </a:avLst>
          </a:prstGeom>
          <a:solidFill>
            <a:srgbClr val="0D1726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83296" y="5065776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MnO₄⁻ + 5Fe²⁺ + 8H⁺ → Mn²⁺ + 5Fe³⁺ + 4H₂O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氧化还原滴定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双氧水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H₂O₂：同一个分子，两个角色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901184" y="2084832"/>
            <a:ext cx="2331720" cy="2331720"/>
          </a:xfrm>
          <a:prstGeom prst="ellipse">
            <a:avLst/>
          </a:prstGeom>
          <a:solidFill>
            <a:srgbClr val="14253C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2331720"/>
            <a:ext cx="1837944" cy="1837944"/>
          </a:xfrm>
          <a:prstGeom prst="ellipse">
            <a:avLst/>
          </a:prstGeom>
          <a:solidFill>
            <a:srgbClr val="08111F"/>
          </a:solidFill>
          <a:ln w="12700">
            <a:solidFill>
              <a:srgbClr val="2941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75504" y="26700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H₂O₂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O：−1价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" y="1737360"/>
            <a:ext cx="3346704" cy="3639312"/>
          </a:xfrm>
          <a:prstGeom prst="roundRect">
            <a:avLst>
              <a:gd name="adj" fmla="val 2186"/>
            </a:avLst>
          </a:prstGeom>
          <a:solidFill>
            <a:srgbClr val="172437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1901952"/>
            <a:ext cx="0" cy="3310128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201168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20208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作氧化剂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得电子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O：−1 → −2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24128" y="3529584"/>
            <a:ext cx="2706624" cy="731520"/>
          </a:xfrm>
          <a:prstGeom prst="roundRect">
            <a:avLst>
              <a:gd name="adj" fmla="val 10000"/>
            </a:avLst>
          </a:prstGeom>
          <a:solidFill>
            <a:srgbClr val="0D1726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33856" y="354787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H₂O₂ + 2I⁻ + 2H⁺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I₂ + 2H₂O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把I⁻氧化成I₂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01584" y="1737360"/>
            <a:ext cx="3346704" cy="3639312"/>
          </a:xfrm>
          <a:prstGeom prst="roundRect">
            <a:avLst>
              <a:gd name="adj" fmla="val 2186"/>
            </a:avLst>
          </a:prstGeom>
          <a:solidFill>
            <a:srgbClr val="2A211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1901952"/>
            <a:ext cx="0" cy="3310128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5904" y="201168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75904" y="20208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作还原剂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失电子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O：−1 → 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75904" y="3529584"/>
            <a:ext cx="2706624" cy="731520"/>
          </a:xfrm>
          <a:prstGeom prst="roundRect">
            <a:avLst>
              <a:gd name="adj" fmla="val 10000"/>
            </a:avLst>
          </a:prstGeom>
          <a:solidFill>
            <a:srgbClr val="201A12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85632" y="354787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Cl₂ + H₂O₂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2HCl + O₂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375904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把Cl₂还原成Cl⁻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51376" y="3118104"/>
            <a:ext cx="640080" cy="0"/>
          </a:xfrm>
          <a:prstGeom prst="line">
            <a:avLst/>
          </a:prstGeom>
          <a:noFill/>
          <a:ln w="22860">
            <a:solidFill>
              <a:srgbClr val="51D9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973568" y="3118104"/>
            <a:ext cx="-640080" cy="0"/>
          </a:xfrm>
          <a:prstGeom prst="line">
            <a:avLst/>
          </a:prstGeom>
          <a:noFill/>
          <a:ln w="22860">
            <a:solidFill>
              <a:srgbClr val="FFC85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127248" y="5522976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14253C"/>
          </a:solidFill>
          <a:ln w="10160">
            <a:solidFill>
              <a:srgbClr val="63E6B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27248" y="5650992"/>
            <a:ext cx="5943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E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歧化：2H₂O₂ → 2H₂O + O₂↑   （同一物质内部一升一降）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H₂O₂的双重角色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| 还原剂矩阵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常见还原剂：它们都在“交出电子”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49808" y="15270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还原剂本身发生氧化；被它还原的对象才发生还原。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196596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2130552"/>
            <a:ext cx="0" cy="950976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011680" y="217627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2212848" y="216712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CuO + H₂ → Cu + H₂O</a:t>
            </a:r>
            <a:endParaRPr lang="en-US" sz="1120" dirty="0"/>
          </a:p>
        </p:txBody>
      </p:sp>
      <p:sp>
        <p:nvSpPr>
          <p:cNvPr id="24" name="Text 22"/>
          <p:cNvSpPr txBox="1"/>
          <p:nvPr/>
        </p:nvSpPr>
        <p:spPr>
          <a:xfrm>
            <a:off x="2212848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非金属还原剂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34840" y="196596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4253C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2130552"/>
            <a:ext cx="0" cy="950976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6008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696712" y="217627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897880" y="216712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Fe₂O₃ + 3CO → 2Fe + 3CO₂</a:t>
            </a:r>
            <a:endParaRPr lang="en-US" sz="112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炼铁核心还原剂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119872" y="196596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01D31"/>
          </a:solidFill>
          <a:ln w="12700">
            <a:solidFill>
              <a:srgbClr val="63E6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7888" y="2130552"/>
            <a:ext cx="0" cy="950976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E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381744" y="217627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9582912" y="216712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 + Cu²⁺ → Zn²⁺ + Cu</a:t>
            </a:r>
            <a:endParaRPr lang="en-US" sz="1120" dirty="0"/>
          </a:p>
        </p:txBody>
      </p:sp>
      <p:sp>
        <p:nvSpPr>
          <p:cNvPr id="36" name="Text 34"/>
          <p:cNvSpPr txBox="1"/>
          <p:nvPr/>
        </p:nvSpPr>
        <p:spPr>
          <a:xfrm>
            <a:off x="9582912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活泼金属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49808" y="361188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4253C"/>
          </a:solidFill>
          <a:ln w="12700">
            <a:solidFill>
              <a:srgbClr val="F06C9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" y="3776472"/>
            <a:ext cx="0" cy="950976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0976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6C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2011680" y="382219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2212848" y="381304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H₂S + I₂ → S + 2HI</a:t>
            </a:r>
            <a:endParaRPr lang="en-US" sz="1120" dirty="0"/>
          </a:p>
        </p:txBody>
      </p:sp>
      <p:sp>
        <p:nvSpPr>
          <p:cNvPr id="42" name="Text 40"/>
          <p:cNvSpPr txBox="1"/>
          <p:nvPr/>
        </p:nvSpPr>
        <p:spPr>
          <a:xfrm>
            <a:off x="2212848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硫化氢还原性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4434840" y="361188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01D31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62856" y="3776472"/>
            <a:ext cx="0" cy="950976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36008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696712" y="382219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5897880" y="381304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 + Br₂ + 2H₂O → H₂SO₄ + 2HBr</a:t>
            </a:r>
            <a:endParaRPr lang="en-US" sz="1120" dirty="0"/>
          </a:p>
        </p:txBody>
      </p:sp>
      <p:sp>
        <p:nvSpPr>
          <p:cNvPr id="48" name="Text 46"/>
          <p:cNvSpPr txBox="1"/>
          <p:nvPr/>
        </p:nvSpPr>
        <p:spPr>
          <a:xfrm>
            <a:off x="5897880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S(+4)继续升价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8119872" y="3611880"/>
            <a:ext cx="3255264" cy="1280160"/>
          </a:xfrm>
          <a:prstGeom prst="roundRect">
            <a:avLst>
              <a:gd name="adj" fmla="val 5714"/>
            </a:avLst>
          </a:prstGeom>
          <a:solidFill>
            <a:srgbClr val="14253C"/>
          </a:solidFill>
          <a:ln w="12700">
            <a:solidFill>
              <a:srgbClr val="78A7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7888" y="3776472"/>
            <a:ext cx="0" cy="950976"/>
          </a:xfrm>
          <a:prstGeom prst="line">
            <a:avLst/>
          </a:prstGeom>
          <a:noFill/>
          <a:ln w="38100">
            <a:solidFill>
              <a:srgbClr val="78A7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21040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Fe²⁺ / I⁻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9381744" y="3822192"/>
            <a:ext cx="0" cy="850392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9582912" y="381304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2Fe²⁺ + Cl₂ → 2Fe³⁺ + 2Cl⁻</a:t>
            </a:r>
            <a:endParaRPr lang="en-US" sz="1120" dirty="0"/>
          </a:p>
        </p:txBody>
      </p:sp>
      <p:sp>
        <p:nvSpPr>
          <p:cNvPr id="54" name="Text 52"/>
          <p:cNvSpPr txBox="1"/>
          <p:nvPr/>
        </p:nvSpPr>
        <p:spPr>
          <a:xfrm>
            <a:off x="9582912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常见离子还原剂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749808" y="5577840"/>
            <a:ext cx="10698480" cy="493776"/>
          </a:xfrm>
          <a:prstGeom prst="roundRect">
            <a:avLst>
              <a:gd name="adj" fmla="val 14815"/>
            </a:avLst>
          </a:prstGeom>
          <a:solidFill>
            <a:srgbClr val="211B2A"/>
          </a:solidFill>
          <a:ln w="10160">
            <a:solidFill>
              <a:srgbClr val="F06C9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9808" y="570585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记忆方向：还原剂 → 失电子 → 化合价升高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常见还原剂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| 课堂互动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三秒判断：谁是氧化剂？谁是还原剂？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49808" y="15361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先遮住答案，只看化合价变化。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2057400"/>
            <a:ext cx="10204704" cy="822960"/>
          </a:xfrm>
          <a:prstGeom prst="roundRect">
            <a:avLst>
              <a:gd name="adj" fmla="val 8889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2221992"/>
            <a:ext cx="0" cy="493776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2240280"/>
            <a:ext cx="420624" cy="420624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61872" y="235915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938528" y="224028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2Fe²⁺ + Cl₂ → 2Fe³⁺ + 2Cl⁻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2951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判断两种角色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7552" y="3191256"/>
            <a:ext cx="10204704" cy="822960"/>
          </a:xfrm>
          <a:prstGeom prst="roundRect">
            <a:avLst>
              <a:gd name="adj" fmla="val 8889"/>
            </a:avLst>
          </a:prstGeom>
          <a:solidFill>
            <a:srgbClr val="101D3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" y="3355848"/>
            <a:ext cx="0" cy="493776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1872" y="3374136"/>
            <a:ext cx="420624" cy="42062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61872" y="34930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938528" y="3374136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2H₂O₂ → 2H₂O + O₂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3429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判断特殊类型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7552" y="4325112"/>
            <a:ext cx="10204704" cy="822960"/>
          </a:xfrm>
          <a:prstGeom prst="roundRect">
            <a:avLst>
              <a:gd name="adj" fmla="val 8889"/>
            </a:avLst>
          </a:prstGeom>
          <a:solidFill>
            <a:srgbClr val="101D31"/>
          </a:solidFill>
          <a:ln w="12700">
            <a:solidFill>
              <a:srgbClr val="F06C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5568" y="4489704"/>
            <a:ext cx="0" cy="493776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4507992"/>
            <a:ext cx="420624" cy="420624"/>
          </a:xfrm>
          <a:prstGeom prst="ellipse">
            <a:avLst/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61872" y="462686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938528" y="4507992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 + 2H₂S → 3S + 2H₂O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4562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判断价态归宿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29968" y="5687568"/>
            <a:ext cx="8119872" cy="512064"/>
          </a:xfrm>
          <a:prstGeom prst="roundRect">
            <a:avLst>
              <a:gd name="adj" fmla="val 14286"/>
            </a:avLst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029968" y="5815584"/>
            <a:ext cx="8119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提示：先找“升价者”和“降价者”，再命名角色。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| 互动解析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答案不是重点，变化路径才是重点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49808" y="1847088"/>
            <a:ext cx="3255264" cy="3364992"/>
          </a:xfrm>
          <a:prstGeom prst="roundRect">
            <a:avLst>
              <a:gd name="adj" fmla="val 2247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2011680"/>
            <a:ext cx="0" cy="3035808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130552"/>
            <a:ext cx="457200" cy="457200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22585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90779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Cl₂是氧化剂；Fe²⁺是还原剂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7552" y="3712464"/>
            <a:ext cx="2779776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987552" y="40233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Fe²⁺：+2 → +3；Cl₂：0 → −1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480060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核心：化合价轨迹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1847088"/>
            <a:ext cx="3255264" cy="3364992"/>
          </a:xfrm>
          <a:prstGeom prst="roundRect">
            <a:avLst>
              <a:gd name="adj" fmla="val 2247"/>
            </a:avLst>
          </a:prstGeom>
          <a:solidFill>
            <a:srgbClr val="101D3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2856" y="2011680"/>
            <a:ext cx="0" cy="3035808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2130552"/>
            <a:ext cx="457200" cy="45720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72584" y="22585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72584" y="290779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歧化反应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72584" y="3712464"/>
            <a:ext cx="2779776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4672584" y="40233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一部分O：−1 → −2；另一部分O：−1 → 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672584" y="480060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核心：化合价轨迹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19872" y="1847088"/>
            <a:ext cx="3255264" cy="3364992"/>
          </a:xfrm>
          <a:prstGeom prst="roundRect">
            <a:avLst>
              <a:gd name="adj" fmla="val 2247"/>
            </a:avLst>
          </a:prstGeom>
          <a:solidFill>
            <a:srgbClr val="101D31"/>
          </a:solidFill>
          <a:ln w="12700">
            <a:solidFill>
              <a:srgbClr val="F06C9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7888" y="2011680"/>
            <a:ext cx="0" cy="3035808"/>
          </a:xfrm>
          <a:prstGeom prst="line">
            <a:avLst/>
          </a:prstGeom>
          <a:noFill/>
          <a:ln w="38100">
            <a:solidFill>
              <a:srgbClr val="F06C9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7616" y="2130552"/>
            <a:ext cx="457200" cy="457200"/>
          </a:xfrm>
          <a:prstGeom prst="ellipse">
            <a:avLst/>
          </a:prstGeom>
          <a:solidFill>
            <a:srgbClr val="F06C9B"/>
          </a:solidFill>
          <a:ln w="12700">
            <a:solidFill>
              <a:srgbClr val="F06C9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57616" y="22585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57616" y="290779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归中反应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57616" y="3712464"/>
            <a:ext cx="2779776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8357616" y="40233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6C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S(+4)与S(−2)共同走向S(0)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480060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核心：化合价轨迹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74520" y="5650992"/>
            <a:ext cx="8430768" cy="493776"/>
          </a:xfrm>
          <a:prstGeom prst="roundRect">
            <a:avLst>
              <a:gd name="adj" fmla="val 14815"/>
            </a:avLst>
          </a:prstGeom>
          <a:solidFill>
            <a:srgbClr val="10283A"/>
          </a:solidFill>
          <a:ln w="10160">
            <a:solidFill>
              <a:srgbClr val="63E6B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874520" y="5779008"/>
            <a:ext cx="8430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升价者＝还原剂　｜　降价者＝氧化剂　｜　同一元素一升一降＝歧化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互动解析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| 反应链复盘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把零散方程式，收束成一张“电子地图”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2688" y="2377440"/>
            <a:ext cx="1143000" cy="1143000"/>
          </a:xfrm>
          <a:prstGeom prst="ellipse">
            <a:avLst/>
          </a:prstGeom>
          <a:solidFill>
            <a:srgbClr val="14253C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697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0175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 e⁻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21992" y="2944368"/>
            <a:ext cx="868680" cy="0"/>
          </a:xfrm>
          <a:prstGeom prst="line">
            <a:avLst/>
          </a:prstGeom>
          <a:noFill/>
          <a:ln w="22860">
            <a:solidFill>
              <a:srgbClr val="FFC85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73552" y="2377440"/>
            <a:ext cx="1143000" cy="1143000"/>
          </a:xfrm>
          <a:prstGeom prst="ellipse">
            <a:avLst/>
          </a:prstGeom>
          <a:solidFill>
            <a:srgbClr val="14253C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90672" y="2697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氧化剂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090672" y="30175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 e⁻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62856" y="2944368"/>
            <a:ext cx="868680" cy="0"/>
          </a:xfrm>
          <a:prstGeom prst="line">
            <a:avLst/>
          </a:prstGeom>
          <a:noFill/>
          <a:ln w="22860">
            <a:solidFill>
              <a:srgbClr val="51D9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14416" y="2377440"/>
            <a:ext cx="1143000" cy="1143000"/>
          </a:xfrm>
          <a:prstGeom prst="ellipse">
            <a:avLst/>
          </a:prstGeom>
          <a:solidFill>
            <a:srgbClr val="14253C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31536" y="2697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175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决定产物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03720" y="2944368"/>
            <a:ext cx="868680" cy="0"/>
          </a:xfrm>
          <a:prstGeom prst="line">
            <a:avLst/>
          </a:prstGeom>
          <a:noFill/>
          <a:ln w="22860">
            <a:solidFill>
              <a:srgbClr val="B68C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55280" y="2377440"/>
            <a:ext cx="1143000" cy="1143000"/>
          </a:xfrm>
          <a:prstGeom prst="ellipse">
            <a:avLst/>
          </a:prstGeom>
          <a:solidFill>
            <a:srgbClr val="14253C"/>
          </a:solidFill>
          <a:ln w="12700">
            <a:solidFill>
              <a:srgbClr val="63E6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2697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0175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 / 滴定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32688" y="4114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典型链条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2688" y="4498848"/>
            <a:ext cx="4773168" cy="621792"/>
          </a:xfrm>
          <a:prstGeom prst="roundRect">
            <a:avLst>
              <a:gd name="adj" fmla="val 11765"/>
            </a:avLst>
          </a:prstGeom>
          <a:solidFill>
            <a:srgbClr val="172437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416" y="4517136"/>
            <a:ext cx="4553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SO₂(+4)  →  SO₃(+6)  →  H₂SO₄(+6)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961888" y="4498848"/>
            <a:ext cx="5230368" cy="621792"/>
          </a:xfrm>
          <a:prstGeom prst="roundRect">
            <a:avLst>
              <a:gd name="adj" fmla="val 11765"/>
            </a:avLst>
          </a:prstGeom>
          <a:solidFill>
            <a:srgbClr val="201A2A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71616" y="4517136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KMnO₄(+7)  →  Mn²⁺ / MnO₂ / MnO₄²⁻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" y="5632704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同一知识框架，也能解释：H₂O₂的双重角色、Fe²⁺滴定、Cl₂消毒和金属冶炼。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知识迁移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18288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2528" y="33832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49377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649224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804672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82528" y="960120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1115568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1271016"/>
            <a:ext cx="32004" cy="32004"/>
          </a:xfrm>
          <a:prstGeom prst="ellipse">
            <a:avLst/>
          </a:prstGeom>
          <a:solidFill>
            <a:srgbClr val="51D9FF">
              <a:alpha val="65000"/>
            </a:srgbClr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6153912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21792" y="6227064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1792" y="6300216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1792" y="6373368"/>
            <a:ext cx="1572768" cy="0"/>
          </a:xfrm>
          <a:prstGeom prst="line">
            <a:avLst/>
          </a:prstGeom>
          <a:noFill/>
          <a:ln w="5715">
            <a:solidFill>
              <a:srgbClr val="29415F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21792" y="292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| 带走四句话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最后只记住这四个开关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0991088" y="3383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1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1261872"/>
            <a:ext cx="10936224" cy="0"/>
          </a:xfrm>
          <a:prstGeom prst="line">
            <a:avLst/>
          </a:prstGeom>
          <a:noFill/>
          <a:ln w="1016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49808" y="17830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101D31"/>
          </a:solidFill>
          <a:ln w="12700">
            <a:solidFill>
              <a:srgbClr val="51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947672"/>
            <a:ext cx="0" cy="676656"/>
          </a:xfrm>
          <a:prstGeom prst="line">
            <a:avLst/>
          </a:prstGeom>
          <a:noFill/>
          <a:ln w="38100">
            <a:solidFill>
              <a:srgbClr val="51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057400"/>
            <a:ext cx="438912" cy="438912"/>
          </a:xfrm>
          <a:prstGeom prst="ellipse">
            <a:avLst/>
          </a:prstGeom>
          <a:solidFill>
            <a:srgbClr val="51D9FF"/>
          </a:solidFill>
          <a:ln w="12700">
            <a:solidFill>
              <a:srgbClr val="51D9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218541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1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先判价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23134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化合价变了，才是氧化还原。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7830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14253C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1947672"/>
            <a:ext cx="0" cy="676656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1384" y="2057400"/>
            <a:ext cx="438912" cy="43891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1384" y="218541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159752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看电子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59752" y="23134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升价失电子；降价得电子。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" y="3081528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101D31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3246120"/>
            <a:ext cx="0" cy="676656"/>
          </a:xfrm>
          <a:prstGeom prst="line">
            <a:avLst/>
          </a:prstGeom>
          <a:noFill/>
          <a:ln w="38100">
            <a:solidFill>
              <a:srgbClr val="B68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" y="3355848"/>
            <a:ext cx="438912" cy="438912"/>
          </a:xfrm>
          <a:prstGeom prst="ellipse">
            <a:avLst/>
          </a:prstGeom>
          <a:solidFill>
            <a:srgbClr val="B68CFF"/>
          </a:solidFill>
          <a:ln w="12700">
            <a:solidFill>
              <a:srgbClr val="B68C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" y="3483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6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看介质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645920" y="36118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KMnO₄的产物随酸碱环境改变。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081528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14253C"/>
          </a:solidFill>
          <a:ln w="12700">
            <a:solidFill>
              <a:srgbClr val="63E6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1656" y="3246120"/>
            <a:ext cx="0" cy="676656"/>
          </a:xfrm>
          <a:prstGeom prst="line">
            <a:avLst/>
          </a:prstGeom>
          <a:noFill/>
          <a:ln w="38100">
            <a:solidFill>
              <a:srgbClr val="63E6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1384" y="3355848"/>
            <a:ext cx="438912" cy="438912"/>
          </a:xfrm>
          <a:prstGeom prst="ellipse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01384" y="3483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159752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3E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看对象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159752" y="36118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H₂O₂、SO₂等物质的角色取决于对手。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5840" y="4754880"/>
            <a:ext cx="10131552" cy="694944"/>
          </a:xfrm>
          <a:prstGeom prst="roundRect">
            <a:avLst>
              <a:gd name="adj" fmla="val 10526"/>
            </a:avLst>
          </a:prstGeom>
          <a:solidFill>
            <a:srgbClr val="132B40"/>
          </a:solidFill>
          <a:ln w="7620">
            <a:solidFill>
              <a:srgbClr val="29415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15568" y="4773168"/>
            <a:ext cx="9912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氧化还原 ＝ 电子转移 ＝ 化合价升降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" y="5760720"/>
            <a:ext cx="10131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安全提醒：强氧化剂与可燃物、浓酸或不明还原剂混合可能剧烈反应。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" y="6492240"/>
            <a:ext cx="10936224" cy="0"/>
          </a:xfrm>
          <a:prstGeom prst="line">
            <a:avLst/>
          </a:prstGeom>
          <a:noFill/>
          <a:ln w="8890">
            <a:solidFill>
              <a:srgbClr val="29415F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 txBox="1"/>
          <p:nvPr/>
        </p:nvSpPr>
        <p:spPr>
          <a:xfrm>
            <a:off x="621792" y="65653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9235440" y="656539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氧化还原反应</a:t>
            </a:r>
            <a:endParaRPr lang="en-US" sz="85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氧化还原反应：从电子转移到工业制硫酸</dc:title>
  <dc:subject>化学氧化还原反应</dc:subject>
  <dc:creator>Codex</dc:creator>
  <cp:lastModifiedBy>Codex</cp:lastModifiedBy>
  <cp:revision>1</cp:revision>
  <dcterms:created xsi:type="dcterms:W3CDTF">2026-08-10T09:18:14Z</dcterms:created>
  <dcterms:modified xsi:type="dcterms:W3CDTF">2026-08-10T09:18:14Z</dcterms:modified>
</cp:coreProperties>
</file>